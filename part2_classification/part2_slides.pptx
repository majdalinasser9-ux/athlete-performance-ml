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10912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C39A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Classification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B3D9F0"/>
                </a:solidFill>
                <a:latin typeface="Calibri"/>
              </a:rPr>
              <a:t>Categorizing Athletes: Low | Medium | High 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66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3D9F0"/>
                </a:solidFill>
                <a:latin typeface="Calibri"/>
              </a:rPr>
              <a:t>Dataset: Kaggle — Athlete Performance Evaluation  |  1,000 records  |  12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235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3D9F0"/>
                </a:solidFill>
                <a:latin typeface="Calibri"/>
              </a:rPr>
              <a:t>Majd  |  DS301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Target Variable &amp; Class Imbalance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97280"/>
            <a:ext cx="7589520" cy="4389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669280"/>
            <a:ext cx="1143000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8064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B6000"/>
                </a:solidFill>
                <a:latin typeface="Calibri"/>
              </a:rPr>
              <a:t>⚠  Class Imbalance: 86.1% Medium (861 samples) vs 7.2% High (72) vs 6.7% Low (67). Handled via stratified split and weighted F1-score as primary metric — not accuracy.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5 Required Classification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22860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2286000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1615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216152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Logistic Regression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737360"/>
            <a:ext cx="2057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Baseline, max_iter=1000
class_weight='balanced'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1143000"/>
            <a:ext cx="22860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97480" y="1143000"/>
            <a:ext cx="2286000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7208" y="121615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1216152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SVC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737360"/>
            <a:ext cx="2057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RBF kernel, StandardScaler
class_weight='balanced'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143000"/>
            <a:ext cx="22860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640" y="1143000"/>
            <a:ext cx="2286000" cy="4572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0368" y="121615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4688" y="1216152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Decision Tree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1737360"/>
            <a:ext cx="2057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random_state=42
Visualized at max_depth=3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43800" y="1143000"/>
            <a:ext cx="22860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43800" y="1143000"/>
            <a:ext cx="2286000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53527" y="121615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1216152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Random Forest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1737360"/>
            <a:ext cx="2057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100 trees
Feature importances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61188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0" y="361188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24528" y="368503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3685032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Neural Network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420624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Keras: Dense(64)→Dense(32)
→Dense(3, softmax)
loss=sparse_categorical_crossentropy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Model Comparison: Accuracy vs F1-Score</a:t>
            </a:r>
          </a:p>
        </p:txBody>
      </p:sp>
      <p:pic>
        <p:nvPicPr>
          <p:cNvPr id="5" name="Picture 4" descr="accuracy_v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Model Performance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2900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18872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7639" y="1143000"/>
            <a:ext cx="160020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50791" y="11887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Accuracy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143000"/>
            <a:ext cx="160020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88152" y="11887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1143000"/>
            <a:ext cx="160020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25512" y="11887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89720" y="1143000"/>
            <a:ext cx="160020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62872" y="11887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F1-Score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342900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1609344"/>
            <a:ext cx="3337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Logistic Regression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39" y="1572768"/>
            <a:ext cx="160020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50791" y="160934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0.9200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0" y="1572768"/>
            <a:ext cx="160020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8152" y="160934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0.9271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60" y="1572768"/>
            <a:ext cx="160020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5512" y="160934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0.9200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1572768"/>
            <a:ext cx="160020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2872" y="160934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0.9271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121408"/>
            <a:ext cx="3429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2157984"/>
            <a:ext cx="3337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SVC (Default)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7639" y="2121408"/>
            <a:ext cx="1600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0791" y="215798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0.9250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0" y="2121408"/>
            <a:ext cx="1600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88152" y="215798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0.9298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52360" y="2121408"/>
            <a:ext cx="1600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215798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9720" y="2121408"/>
            <a:ext cx="1600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62872" y="215798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0.9298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2670048"/>
            <a:ext cx="3429000" cy="50292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2706624"/>
            <a:ext cx="3337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2C39A"/>
                </a:solidFill>
                <a:latin typeface="Calibri"/>
              </a:rPr>
              <a:t>SVC (Tuned) 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77639" y="2670048"/>
            <a:ext cx="1600200" cy="50292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50791" y="270662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0.9800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15000" y="2670048"/>
            <a:ext cx="1600200" cy="50292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88152" y="270662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0.9803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52360" y="2670048"/>
            <a:ext cx="1600200" cy="50292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25512" y="270662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0.9800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89720" y="2670048"/>
            <a:ext cx="1600200" cy="50292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62872" y="270662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0.9803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18687"/>
            <a:ext cx="3429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" y="3255263"/>
            <a:ext cx="3337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Decision Tree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977639" y="3218687"/>
            <a:ext cx="1600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50791" y="3255263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0.8800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15000" y="3218687"/>
            <a:ext cx="1600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88152" y="3255263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0.8691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52360" y="3218687"/>
            <a:ext cx="1600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25512" y="3255263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0.8800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89720" y="3218687"/>
            <a:ext cx="1600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62872" y="3255263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0.8691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3767328"/>
            <a:ext cx="342900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3803904"/>
            <a:ext cx="3337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Random Forest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3767328"/>
            <a:ext cx="160020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50791" y="380390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0.8850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15000" y="3767328"/>
            <a:ext cx="160020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88152" y="380390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0.8484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52360" y="3767328"/>
            <a:ext cx="160020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380390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0.8850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89720" y="3767328"/>
            <a:ext cx="160020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62872" y="380390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0.8484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315968"/>
            <a:ext cx="3429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" y="4352544"/>
            <a:ext cx="3337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Neural Network (Keras)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7639" y="4315968"/>
            <a:ext cx="1600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50791" y="435254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0.9350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715000" y="4315968"/>
            <a:ext cx="1600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788152" y="435254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0.9316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452360" y="4315968"/>
            <a:ext cx="1600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25512" y="435254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0.9350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89720" y="4315968"/>
            <a:ext cx="1600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262872" y="4352544"/>
            <a:ext cx="1508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0.9316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76A8A"/>
                </a:solidFill>
                <a:latin typeface="Calibri"/>
              </a:rPr>
              <a:t>⭐ Best Model: Tuned SVC (C=10, linear) — highest F1 score, primary metric due to class imbalance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Hyperparameter Tuning — SVC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02920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618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GridSearchCV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Method: GridSearchCV (5-fold CV)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671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Scoring: weighted F1-score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5117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Fit on training data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3522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92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Parameter Grid: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  C = [0.1, 1, 10]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8736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  kernel = ['rbf', 'linear']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  gamma = ['scale', 'auto']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5546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3951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Total combinations: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1143000"/>
            <a:ext cx="612648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26187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Best Parameters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1828800"/>
            <a:ext cx="2743200" cy="50292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1892807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6A8A"/>
                </a:solidFill>
                <a:latin typeface="Calibri"/>
              </a:rPr>
              <a:t>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1828800"/>
            <a:ext cx="2926080" cy="5029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1892807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2423160"/>
            <a:ext cx="2743200" cy="50292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97880" y="248716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6A8A"/>
                </a:solidFill>
                <a:latin typeface="Calibri"/>
              </a:rPr>
              <a:t>kernel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41080" y="2423160"/>
            <a:ext cx="2926080" cy="5029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32520" y="248716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linear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017520"/>
            <a:ext cx="2743200" cy="50292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97880" y="308152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6A8A"/>
                </a:solidFill>
                <a:latin typeface="Calibri"/>
              </a:rPr>
              <a:t>gamma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1080" y="3017520"/>
            <a:ext cx="2926080" cy="5029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32520" y="308152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0" y="3886200"/>
            <a:ext cx="6126480" cy="2651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6440" y="400507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F1 Improvement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26280"/>
            <a:ext cx="5852160" cy="804672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5902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Default SVC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95604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6A8A"/>
                </a:solidFill>
                <a:latin typeface="Calibri"/>
              </a:rPr>
              <a:t>F1-Score: 0.9298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06440" y="5440680"/>
            <a:ext cx="5852160" cy="804672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55046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Tuned SVC 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87044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6A8A"/>
                </a:solidFill>
                <a:latin typeface="Calibri"/>
              </a:rPr>
              <a:t>F1-Score: 0.9803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06440" y="612648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C39A"/>
                </a:solidFill>
                <a:latin typeface="Calibri"/>
              </a:rPr>
              <a:t>+5.3% improvement through systematic tuning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Confusion Matrix — Tuned SVC (Best Model)</a:t>
            </a:r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6858000" cy="5303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1143000"/>
            <a:ext cx="384048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2618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Classification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8183879" y="1920240"/>
            <a:ext cx="1143000" cy="5943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659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Class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1920240"/>
            <a:ext cx="685800" cy="5943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19659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95560" y="1920240"/>
            <a:ext cx="685800" cy="5943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0" y="19659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0" y="1920240"/>
            <a:ext cx="685800" cy="5943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18520" y="19659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2578608"/>
            <a:ext cx="1143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62432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0" y="2578608"/>
            <a:ext cx="6858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262432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0.88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95560" y="2578608"/>
            <a:ext cx="6858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0" y="262432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0" y="2578608"/>
            <a:ext cx="6858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18520" y="262432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3236976"/>
            <a:ext cx="1143000" cy="59436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282696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0" y="3236976"/>
            <a:ext cx="685800" cy="59436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3282696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95560" y="3236976"/>
            <a:ext cx="685800" cy="59436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0" y="3282696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1.00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0" y="3236976"/>
            <a:ext cx="685800" cy="59436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18520" y="3282696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3895344"/>
            <a:ext cx="1143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3941064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Medium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20" y="3895344"/>
            <a:ext cx="6858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64040" y="3941064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95560" y="3895344"/>
            <a:ext cx="6858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80" y="3941064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972800" y="3895344"/>
            <a:ext cx="6858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18520" y="3941064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0.99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4553712"/>
            <a:ext cx="1143000" cy="59436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4599431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Wtd Avg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18320" y="4553712"/>
            <a:ext cx="685800" cy="59436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64040" y="4599431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293B"/>
                </a:solidFill>
                <a:latin typeface="Calibri"/>
              </a:rPr>
              <a:t>0.98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95560" y="4553712"/>
            <a:ext cx="685800" cy="59436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41280" y="4599431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293B"/>
                </a:solidFill>
                <a:latin typeface="Calibri"/>
              </a:rPr>
              <a:t>0.98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72800" y="4553712"/>
            <a:ext cx="685800" cy="59436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018520" y="4599431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293B"/>
                </a:solidFill>
                <a:latin typeface="Calibri"/>
              </a:rPr>
              <a:t>0.98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79" y="5989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C39A"/>
                </a:solidFill>
                <a:latin typeface="Calibri"/>
              </a:rPr>
              <a:t>Overall Accuracy: 98.0%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83879" y="63276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6A8A"/>
                </a:solidFill>
                <a:latin typeface="Calibri"/>
              </a:rPr>
              <a:t>Only 3 errors out of 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Decision Tree Visualization (max_depth=3)</a:t>
            </a:r>
          </a:p>
        </p:txBody>
      </p:sp>
      <p:pic>
        <p:nvPicPr>
          <p:cNvPr id="5" name="Picture 4" descr="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76A8A"/>
                </a:solidFill>
                <a:latin typeface="Calibri"/>
              </a:rPr>
              <a:t>Top split: endurance_score — confirming it is the most discriminative feature for athlete categorization.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Feature Importance — Random Forest Classifier</a:t>
            </a:r>
          </a:p>
        </p:txBody>
      </p:sp>
      <p:pic>
        <p:nvPicPr>
          <p:cNvPr id="5" name="Picture 4" descr="cls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8046720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686800" y="1143000"/>
            <a:ext cx="320040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23960" y="126187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Key Insight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8823960" y="1874519"/>
            <a:ext cx="2926080" cy="56692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5400" y="19385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endurance_score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93852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  <a:latin typeface="Calibri"/>
              </a:rPr>
              <a:t>28.9%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23960" y="2560320"/>
            <a:ext cx="2926080" cy="5669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26243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agility_score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2432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  <a:latin typeface="Calibri"/>
              </a:rPr>
              <a:t>23.3%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3960" y="3246120"/>
            <a:ext cx="2926080" cy="5669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33101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fatigue_index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31012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  <a:latin typeface="Calibri"/>
              </a:rPr>
              <a:t>11.8%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406908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Top 2 features
account for &gt;52%
of predictive power.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498348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6A8A"/>
                </a:solidFill>
                <a:latin typeface="Calibri"/>
              </a:rPr>
              <a:t>Matches regression
results — consistent
feature ranking.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6400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394960" cy="20116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394960" cy="4572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35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 Models Trained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3D9F0"/>
                </a:solidFill>
                <a:latin typeface="Calibri"/>
              </a:rPr>
              <a:t>Logistic Reg, SVC,
Decision Tree, Random Forest,
Neural Network (Keras)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371600"/>
            <a:ext cx="5394960" cy="20116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59" y="1371600"/>
            <a:ext cx="5394960" cy="4572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435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Best: Tuned SVC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6596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3D9F0"/>
                </a:solidFill>
                <a:latin typeface="Calibri"/>
              </a:rPr>
              <a:t>C=10, linear kernel
98% accuracy, F1=0.9803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57600"/>
            <a:ext cx="5394960" cy="20116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57600"/>
            <a:ext cx="5394960" cy="4572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21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Class Imbalance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5196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3D9F0"/>
                </a:solidFill>
                <a:latin typeface="Calibri"/>
              </a:rPr>
              <a:t>86.1% Medium handled via
stratified split + F1 metric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3657600"/>
            <a:ext cx="5394960" cy="20116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59" y="3657600"/>
            <a:ext cx="5394960" cy="4572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21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Key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5196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3D9F0"/>
                </a:solidFill>
                <a:latin typeface="Calibri"/>
              </a:rPr>
              <a:t>Endurance + agility
drive &gt;52% of classification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AA8C5"/>
                </a:solidFill>
                <a:latin typeface="Calibri"/>
              </a:rPr>
              <a:t>Majd  |  DS301 Capstone  |  Part 2 — Classification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