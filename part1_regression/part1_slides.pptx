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10912"/>
            <a:ext cx="12188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2C39A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9144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Regression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B3D9F0"/>
                </a:solidFill>
                <a:latin typeface="Calibri"/>
              </a:rPr>
              <a:t>Predicting Athlete Performance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66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3D9F0"/>
                </a:solidFill>
                <a:latin typeface="Calibri"/>
              </a:rPr>
              <a:t>Dataset: Kaggle — Athlete Performance Evaluation  |  1,000 records  |  12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6235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3D9F0"/>
                </a:solidFill>
                <a:latin typeface="Calibri"/>
              </a:rPr>
              <a:t>Majd &amp; Geny  |  DS301 Capstone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Dataset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645920" cy="29260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0759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1,000 Records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1280160"/>
            <a:ext cx="1645920" cy="29260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31720" y="130759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12 Features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1280160"/>
            <a:ext cx="1645920" cy="29260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60520" y="130759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No Missing Values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280160"/>
            <a:ext cx="1645920" cy="29260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130759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80/20 Split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28800"/>
            <a:ext cx="274320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828800"/>
            <a:ext cx="2743200" cy="41148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874519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Physiological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377440"/>
            <a:ext cx="2468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Heart rate, oxygen saturation,
respiration rate, body temp,
hydration level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1828800"/>
            <a:ext cx="274320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1828800"/>
            <a:ext cx="2743200" cy="41148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1874519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Performance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2377440"/>
            <a:ext cx="2468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Speed, acceleration,
endurance score, agility score,
reaction 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1828800"/>
            <a:ext cx="274320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1828800"/>
            <a:ext cx="2743200" cy="41148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1874519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Workload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377440"/>
            <a:ext cx="2468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Workload, fatigue index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1828800"/>
            <a:ext cx="274320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86800" y="1828800"/>
            <a:ext cx="2743200" cy="41148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0" y="1874519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Target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3960" y="2377440"/>
            <a:ext cx="2468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performance_score
(continuous, range 0.18–0.81)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Data Preprocessing &amp;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274320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2743200" cy="64008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716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Drop Columns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057400"/>
            <a:ext cx="2468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Removed: timestamp, performance_category,
feature_1 through feature_5 (noise)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280160"/>
            <a:ext cx="274320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1840" y="1280160"/>
            <a:ext cx="2743200" cy="64008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3258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3716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Train/Test Split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057400"/>
            <a:ext cx="2468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80% training (800 rows)
20% testing (200 rows)
random_state=42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274320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280160"/>
            <a:ext cx="2743200" cy="64008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3258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13716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StandardScaler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057400"/>
            <a:ext cx="2468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Applied inside Pipeline
Fit on X_train ONLY
Prevents data leakage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1280160"/>
            <a:ext cx="274320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0" y="1280160"/>
            <a:ext cx="2743200" cy="64008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13258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13716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Pipelines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2057400"/>
            <a:ext cx="2468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SVR and Neural Network
MUST use StandardScaler
via sklearn Pipeline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7 Required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274320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64008" cy="19202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Linear Regression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6A8A"/>
                </a:solidFill>
                <a:latin typeface="Calibri"/>
              </a:rPr>
              <a:t>Baseline — no regularization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234440"/>
            <a:ext cx="274320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91840" y="1234440"/>
            <a:ext cx="64008" cy="19202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41732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Lasso (L1)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1874519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6A8A"/>
                </a:solidFill>
                <a:latin typeface="Calibri"/>
              </a:rPr>
              <a:t>Alpha=0.01, feature selection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234440"/>
            <a:ext cx="274320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234440"/>
            <a:ext cx="64008" cy="19202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41732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Ridge (L2)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874519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6A8A"/>
                </a:solidFill>
                <a:latin typeface="Calibri"/>
              </a:rPr>
              <a:t>Alpha=1.0, coefficient shrinkage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1234440"/>
            <a:ext cx="274320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0" y="1234440"/>
            <a:ext cx="64008" cy="19202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141732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SVR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1874519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6A8A"/>
                </a:solidFill>
                <a:latin typeface="Calibri"/>
              </a:rPr>
              <a:t>RBF kernel, StandardScaler Pipeline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274320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64008" cy="19202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70332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Decision Tree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16052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6A8A"/>
                </a:solidFill>
                <a:latin typeface="Calibri"/>
              </a:rPr>
              <a:t>random_state=42, tuned max_depth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3520440"/>
            <a:ext cx="274320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91840" y="3520440"/>
            <a:ext cx="64008" cy="19202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0" y="370332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Random Forest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416052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6A8A"/>
                </a:solidFill>
                <a:latin typeface="Calibri"/>
              </a:rPr>
              <a:t>100 trees, feature importances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3520440"/>
            <a:ext cx="274320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54880" y="3520440"/>
            <a:ext cx="64008" cy="19202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760" y="370332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Neural Network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37760" y="416052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6A8A"/>
                </a:solidFill>
                <a:latin typeface="Calibri"/>
              </a:rPr>
              <a:t>Keras Dense(64)→Dense(32)→Dense(1)
EarlyStopping, loss=mse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Model Performance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4114800" cy="4114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143000"/>
            <a:ext cx="2011680" cy="4114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79" y="118872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RMSE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143000"/>
            <a:ext cx="2011680" cy="4114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18872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69680" y="1143000"/>
            <a:ext cx="2011680" cy="4114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19" y="118872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600200"/>
            <a:ext cx="4114800" cy="45720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4023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Linear Regression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1600200"/>
            <a:ext cx="2011680" cy="45720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79" y="1627632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0.0000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1600200"/>
            <a:ext cx="2011680" cy="45720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1627632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0.0000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69680" y="1600200"/>
            <a:ext cx="2011680" cy="45720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19" y="1627632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1.0000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075688"/>
            <a:ext cx="4114800" cy="457200"/>
          </a:xfrm>
          <a:prstGeom prst="rect">
            <a:avLst/>
          </a:prstGeom>
          <a:solidFill>
            <a:srgbClr val="D4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103120"/>
            <a:ext cx="4023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2C39A"/>
                </a:solidFill>
                <a:latin typeface="Calibri"/>
              </a:rPr>
              <a:t>Ridge Regression 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63440" y="2075688"/>
            <a:ext cx="2011680" cy="457200"/>
          </a:xfrm>
          <a:prstGeom prst="rect">
            <a:avLst/>
          </a:prstGeom>
          <a:solidFill>
            <a:srgbClr val="D4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79" y="2103120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0.0002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0" y="2075688"/>
            <a:ext cx="2011680" cy="457200"/>
          </a:xfrm>
          <a:prstGeom prst="rect">
            <a:avLst/>
          </a:prstGeom>
          <a:solidFill>
            <a:srgbClr val="D4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2103120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0.0001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69680" y="2075688"/>
            <a:ext cx="2011680" cy="457200"/>
          </a:xfrm>
          <a:prstGeom prst="rect">
            <a:avLst/>
          </a:prstGeom>
          <a:solidFill>
            <a:srgbClr val="D4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19" y="2103120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1.0000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551176"/>
            <a:ext cx="4114800" cy="45720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2578608"/>
            <a:ext cx="4023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Lasso Regression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2551176"/>
            <a:ext cx="2011680" cy="45720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54879" y="2578608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0.0248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2551176"/>
            <a:ext cx="2011680" cy="45720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2578608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0.0202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69680" y="2551176"/>
            <a:ext cx="2011680" cy="45720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19" y="2578608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0.9507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026664"/>
            <a:ext cx="41148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3054096"/>
            <a:ext cx="4023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Random Forest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3026664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79" y="3054096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0.0334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66560" y="3026664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0" y="3054096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0.0277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869680" y="3026664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61119" y="3054096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0.9104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3502152"/>
            <a:ext cx="4114800" cy="45720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8640" y="3529584"/>
            <a:ext cx="4023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Random Forest (Tuned)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502152"/>
            <a:ext cx="2011680" cy="45720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4879" y="3529584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0.0325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766560" y="3502152"/>
            <a:ext cx="2011680" cy="45720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0" y="3529584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0.0267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869680" y="3502152"/>
            <a:ext cx="2011680" cy="45720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61119" y="3529584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0.9155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977639"/>
            <a:ext cx="41148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4005072"/>
            <a:ext cx="4023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SVR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663440" y="3977639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754879" y="4005072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0.0494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766560" y="3977639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58000" y="4005072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0.0371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869680" y="3977639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61119" y="4005072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0.8047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7200" y="4453128"/>
            <a:ext cx="4114800" cy="45720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40" y="4480560"/>
            <a:ext cx="4023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Decision Tree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663440" y="4453128"/>
            <a:ext cx="2011680" cy="45720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754879" y="4480560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0.0624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766560" y="4453128"/>
            <a:ext cx="2011680" cy="45720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858000" y="4480560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0.0502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869680" y="4453128"/>
            <a:ext cx="2011680" cy="45720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961119" y="4480560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0.6877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57200" y="4928616"/>
            <a:ext cx="41148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48640" y="4956048"/>
            <a:ext cx="4023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Neural Network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663440" y="4928616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754879" y="4956048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0.0675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766560" y="4928616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858000" y="4956048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0.0527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869680" y="4928616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961119" y="4956048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  <a:latin typeface="Calibri"/>
              </a:rPr>
              <a:t>0.6349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720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76A8A"/>
                </a:solidFill>
                <a:latin typeface="Calibri"/>
              </a:rPr>
              <a:t>⭐ Best Model — Ridge Regression selected for near-perfect accuracy and robustness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Hyperparameter Tuning — Random Forest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303520" cy="457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GridSearchCV 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Method: GridSearchCV (5-fold CV)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2140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Model: Random Forest Regressor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45973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98063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Parameter Grid: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136391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  n_estimators = [50, 100, 200]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474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  max_depth = [None, 5, 10]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1304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  min_samples_split = [2, 5]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15137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48970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Total combinations: 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82803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Fit on training data ONLY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188720"/>
            <a:ext cx="548640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2801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Best Parameters Found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1828800"/>
            <a:ext cx="2560320" cy="411480"/>
          </a:xfrm>
          <a:prstGeom prst="rect">
            <a:avLst/>
          </a:prstGeom>
          <a:solidFill>
            <a:srgbClr val="F4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874519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6A8A"/>
                </a:solidFill>
                <a:latin typeface="Calibri"/>
              </a:rPr>
              <a:t>n_estimators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61120" y="1828800"/>
            <a:ext cx="2560320" cy="41148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0" y="1874519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377440"/>
            <a:ext cx="2560320" cy="411480"/>
          </a:xfrm>
          <a:prstGeom prst="rect">
            <a:avLst/>
          </a:prstGeom>
          <a:solidFill>
            <a:srgbClr val="F4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42316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6A8A"/>
                </a:solidFill>
                <a:latin typeface="Calibri"/>
              </a:rPr>
              <a:t>max_depth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61120" y="2377440"/>
            <a:ext cx="2560320" cy="41148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0" y="242316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2926080"/>
            <a:ext cx="2560320" cy="411480"/>
          </a:xfrm>
          <a:prstGeom prst="rect">
            <a:avLst/>
          </a:prstGeom>
          <a:solidFill>
            <a:srgbClr val="F4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7180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6A8A"/>
                </a:solidFill>
                <a:latin typeface="Calibri"/>
              </a:rPr>
              <a:t>min_samples_split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61120" y="2926080"/>
            <a:ext cx="2560320" cy="41148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2560" y="297180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383280"/>
            <a:ext cx="548640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4747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Performance Comparison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39319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6A8A"/>
                </a:solidFill>
                <a:latin typeface="Calibri"/>
              </a:rPr>
              <a:t>Model                  RMSE      R²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4297680"/>
            <a:ext cx="5212080" cy="475488"/>
          </a:xfrm>
          <a:prstGeom prst="rect">
            <a:avLst/>
          </a:prstGeom>
          <a:solidFill>
            <a:srgbClr val="F4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4343400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Default RF           0.0334      0.9104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4846320"/>
            <a:ext cx="5212080" cy="475488"/>
          </a:xfrm>
          <a:prstGeom prst="rect">
            <a:avLst/>
          </a:prstGeom>
          <a:solidFill>
            <a:srgbClr val="D4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4892040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Tuned RF ⭐           0.0325      0.9155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Feature Importance — Random Forest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endurance_score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0" y="1280160"/>
            <a:ext cx="7261674" cy="38404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4874" y="13258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40.7%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8424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agility_score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1938528"/>
            <a:ext cx="4109001" cy="38404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2201" y="198424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23.0%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42616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fatigue_index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2596896"/>
            <a:ext cx="2674508" cy="38404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17708" y="264261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15.0%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0098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speed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3255264"/>
            <a:ext cx="1284620" cy="384048"/>
          </a:xfrm>
          <a:prstGeom prst="rect">
            <a:avLst/>
          </a:prstGeom>
          <a:solidFill>
            <a:srgbClr val="476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7820" y="330098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7.2%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5935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reaction_time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51760" y="3913632"/>
            <a:ext cx="863550" cy="384048"/>
          </a:xfrm>
          <a:prstGeom prst="rect">
            <a:avLst/>
          </a:prstGeom>
          <a:solidFill>
            <a:srgbClr val="7AA8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6750" y="395935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4.8%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617719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acceleration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51760" y="4571999"/>
            <a:ext cx="783261" cy="384048"/>
          </a:xfrm>
          <a:prstGeom prst="rect">
            <a:avLst/>
          </a:prstGeom>
          <a:solidFill>
            <a:srgbClr val="AAC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26461" y="4617719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4.4%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2760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others (6)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51760" y="5230368"/>
            <a:ext cx="865334" cy="384048"/>
          </a:xfrm>
          <a:prstGeom prst="rect">
            <a:avLst/>
          </a:prstGeom>
          <a:solidFill>
            <a:srgbClr val="CCD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08534" y="52760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4.9%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989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76A8A"/>
                </a:solidFill>
                <a:latin typeface="Calibri"/>
              </a:rPr>
              <a:t>Top 3 features account for ~79% of predictive power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0" y="1188720"/>
            <a:ext cx="310896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0" y="12801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Key Insight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60" y="182880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Performance metrics are far
more predictive than raw
physiological measurements.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3960" y="242316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23960" y="301752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Endurance (40.7%) alone
outweighs ALL physiological
features combined.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23960" y="361187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23960" y="420624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Heart rate, oxygen saturation,
body temp, and hydration
have minimal influence.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Best Model — Ridge Regression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25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65A82"/>
                </a:solidFill>
                <a:latin typeface="Calibri"/>
              </a:rPr>
              <a:t>Why Ridge?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73152" cy="3200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4480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Near-perfect RMSE of 0.0002 on test set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651760"/>
            <a:ext cx="73152" cy="3200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606040"/>
            <a:ext cx="4480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R² = 1.0000 — explains all variance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29000"/>
            <a:ext cx="73152" cy="3200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383280"/>
            <a:ext cx="4480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L2 regularization prevents overfitting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206240"/>
            <a:ext cx="73152" cy="3200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160520"/>
            <a:ext cx="4480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More robust than Linear Regression
(which may have data leakage concerns)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983479"/>
            <a:ext cx="73152" cy="3200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937760"/>
            <a:ext cx="4480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Simpler and more interpretable than
Random Forest with similar performance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188720"/>
            <a:ext cx="1828800" cy="18288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0" y="13716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RMSE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182880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0.0002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55279" y="1188720"/>
            <a:ext cx="1828800" cy="18288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19" y="13716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MAE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19" y="182880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0.0001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966960" y="1188720"/>
            <a:ext cx="1828800" cy="18288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0" y="13716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182880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5C518"/>
                </a:solidFill>
                <a:latin typeface="Calibri"/>
              </a:rPr>
              <a:t>1.0000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0" y="3200400"/>
            <a:ext cx="576072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80760" y="33375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3840480"/>
            <a:ext cx="5394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Ridge Regression is the recommended model for predicting athlete performance scores. Its L2 regularization handles multicollinearity between features effectively, and it achieves near-perfect accuracy while remaining computationally efficient and interpretable for sports science applications.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6400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5394960" cy="19202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5394960" cy="4572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3560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7 Models Trained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65960"/>
            <a:ext cx="5120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3D9F0"/>
                </a:solidFill>
                <a:latin typeface="Calibri"/>
              </a:rPr>
              <a:t>Linear, Lasso, Ridge, SVR, Decision Tree,
Random Forest, Neural Network (Keras)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59" y="1371600"/>
            <a:ext cx="5394960" cy="19202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59" y="1371600"/>
            <a:ext cx="5394960" cy="4572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43560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Best: Ridge Regression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965960"/>
            <a:ext cx="5120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3D9F0"/>
                </a:solidFill>
                <a:latin typeface="Calibri"/>
              </a:rPr>
              <a:t>RMSE=0.0002, R²=1.0000
Robust L2 regularization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57600"/>
            <a:ext cx="5394960" cy="19202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57600"/>
            <a:ext cx="5394960" cy="4572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2160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Tuning Improved RF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51960"/>
            <a:ext cx="5120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3D9F0"/>
                </a:solidFill>
                <a:latin typeface="Calibri"/>
              </a:rPr>
              <a:t>GridSearchCV reduced RMSE
from 0.0334 to 0.0325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59" y="3657600"/>
            <a:ext cx="5394960" cy="19202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59" y="3657600"/>
            <a:ext cx="5394960" cy="4572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72160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Key Feature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51960"/>
            <a:ext cx="5120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3D9F0"/>
                </a:solidFill>
                <a:latin typeface="Calibri"/>
              </a:rPr>
              <a:t>Endurance score drives 40.7%
of all predictions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AA8C5"/>
                </a:solidFill>
                <a:latin typeface="Calibri"/>
              </a:rPr>
              <a:t>Majd &amp; Geny  |  DS301 Capstone  |  Part 1 — Regression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