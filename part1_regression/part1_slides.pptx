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10912"/>
            <a:ext cx="12188952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C39A"/>
                </a:solidFill>
                <a:latin typeface="Calibri"/>
              </a:rPr>
              <a:t>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Regression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B3D9F0"/>
                </a:solidFill>
                <a:latin typeface="Calibri"/>
              </a:rPr>
              <a:t>Predicting Athlete Performance 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166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3D9F0"/>
                </a:solidFill>
                <a:latin typeface="Calibri"/>
              </a:rPr>
              <a:t>Dataset: Kaggle — Athlete Performance Evaluation  |  1,000 records  |  12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6235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3D9F0"/>
                </a:solidFill>
                <a:latin typeface="Calibri"/>
              </a:rPr>
              <a:t>Majd  |  DS301 Capstone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Dataset Overview &amp; Target Distribution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265176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2651760" cy="4114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C518"/>
                </a:solidFill>
                <a:latin typeface="Calibri"/>
              </a:rPr>
              <a:t>1,000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76A8A"/>
                </a:solidFill>
                <a:latin typeface="Calibri"/>
              </a:rPr>
              <a:t>Records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143000"/>
            <a:ext cx="265176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0" y="1143000"/>
            <a:ext cx="2651760" cy="4114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298448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C518"/>
                </a:solidFill>
                <a:latin typeface="Calibri"/>
              </a:rP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874519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76A8A"/>
                </a:solidFill>
                <a:latin typeface="Calibri"/>
              </a:rPr>
              <a:t>Features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143000"/>
            <a:ext cx="265176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143000"/>
            <a:ext cx="2651760" cy="4114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298448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C518"/>
                </a:solidFill>
                <a:latin typeface="Calibri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874519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76A8A"/>
                </a:solidFill>
                <a:latin typeface="Calibri"/>
              </a:rPr>
              <a:t>Missing Values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1143000"/>
            <a:ext cx="265176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0" y="1143000"/>
            <a:ext cx="2651760" cy="4114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1298448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C518"/>
                </a:solidFill>
                <a:latin typeface="Calibri"/>
              </a:rPr>
              <a:t>80/20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1874519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76A8A"/>
                </a:solidFill>
                <a:latin typeface="Calibri"/>
              </a:rPr>
              <a:t>Train/Test Split</a:t>
            </a:r>
          </a:p>
        </p:txBody>
      </p:sp>
      <p:pic>
        <p:nvPicPr>
          <p:cNvPr id="21" name="Picture 20" descr="targe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651760"/>
            <a:ext cx="1124712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7 Required Regression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292608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2926080" cy="457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216152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16152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Linear Regression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737360"/>
            <a:ext cx="2697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Baseline — no regularization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143000"/>
            <a:ext cx="292608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1143000"/>
            <a:ext cx="2926080" cy="457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93008" y="1216152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216152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Lasso (L1)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1737360"/>
            <a:ext cx="2697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alpha=0.01, feature selection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1143000"/>
            <a:ext cx="292608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92240" y="1143000"/>
            <a:ext cx="2926080" cy="457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1216152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1216152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Ridge (L2)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1737360"/>
            <a:ext cx="2697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alpha=1.0, recommended model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0" y="1143000"/>
            <a:ext cx="228600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601200" y="1143000"/>
            <a:ext cx="2286000" cy="457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10928" y="1216152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12680" y="1216152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SVR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38360" y="1737360"/>
            <a:ext cx="2057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RBF kernel, StandardScaler Pipeline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520440"/>
            <a:ext cx="292608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3520440"/>
            <a:ext cx="2926080" cy="457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3593592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3593592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Decision Tree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79" y="4114800"/>
            <a:ext cx="2697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random_state=42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83280" y="3520440"/>
            <a:ext cx="292608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83280" y="3520440"/>
            <a:ext cx="2926080" cy="457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93008" y="3593592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94760" y="3593592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Random Forest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0440" y="4114800"/>
            <a:ext cx="2697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100 trees, feature importances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92240" y="3520440"/>
            <a:ext cx="292608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92240" y="3520440"/>
            <a:ext cx="2926080" cy="4572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01968" y="3593592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20" y="3593592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Neural Network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4114800"/>
            <a:ext cx="2697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Keras: Dense(64)→Dense(32)→Dense(1)
EarlyStopping, loss=mse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RMSE Comparison — All 7 Models</a:t>
            </a:r>
          </a:p>
        </p:txBody>
      </p:sp>
      <p:pic>
        <p:nvPicPr>
          <p:cNvPr id="5" name="Picture 4" descr="rms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1069848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Model Performance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3429000" cy="38404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118872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0" y="1143000"/>
            <a:ext cx="1325880" cy="38404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05072" y="1188720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RMSE</a:t>
            </a:r>
          </a:p>
        </p:txBody>
      </p:sp>
      <p:sp>
        <p:nvSpPr>
          <p:cNvPr id="9" name="Rectangle 8"/>
          <p:cNvSpPr/>
          <p:nvPr/>
        </p:nvSpPr>
        <p:spPr>
          <a:xfrm>
            <a:off x="5394960" y="1143000"/>
            <a:ext cx="1325880" cy="38404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68112" y="1188720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MAE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1143000"/>
            <a:ext cx="1325880" cy="38404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31152" y="1188720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0" y="1143000"/>
            <a:ext cx="1600200" cy="38404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94192" y="118872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Train Time (s)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572768"/>
            <a:ext cx="3429000" cy="475488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" y="1609344"/>
            <a:ext cx="3337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Linear Regression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31920" y="1572768"/>
            <a:ext cx="1325880" cy="475488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05072" y="1609344"/>
            <a:ext cx="1234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0.0000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94960" y="1572768"/>
            <a:ext cx="1325880" cy="475488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68112" y="1609344"/>
            <a:ext cx="1234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0.0000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0" y="1572768"/>
            <a:ext cx="1325880" cy="475488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31152" y="1609344"/>
            <a:ext cx="1234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1.0000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21040" y="1572768"/>
            <a:ext cx="1600200" cy="475488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94192" y="1609344"/>
            <a:ext cx="1508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0.0080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075688"/>
            <a:ext cx="3429000" cy="475488"/>
          </a:xfrm>
          <a:prstGeom prst="rect">
            <a:avLst/>
          </a:prstGeom>
          <a:solidFill>
            <a:srgbClr val="D4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" y="2112264"/>
            <a:ext cx="3337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C39A"/>
                </a:solidFill>
                <a:latin typeface="Calibri"/>
              </a:rPr>
              <a:t>Ridge Regression 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31920" y="2075688"/>
            <a:ext cx="1325880" cy="475488"/>
          </a:xfrm>
          <a:prstGeom prst="rect">
            <a:avLst/>
          </a:prstGeom>
          <a:solidFill>
            <a:srgbClr val="D4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05072" y="2112264"/>
            <a:ext cx="1234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0.0002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94960" y="2075688"/>
            <a:ext cx="1325880" cy="475488"/>
          </a:xfrm>
          <a:prstGeom prst="rect">
            <a:avLst/>
          </a:prstGeom>
          <a:solidFill>
            <a:srgbClr val="D4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68112" y="2112264"/>
            <a:ext cx="1234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0.0001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0" y="2075688"/>
            <a:ext cx="1325880" cy="475488"/>
          </a:xfrm>
          <a:prstGeom prst="rect">
            <a:avLst/>
          </a:prstGeom>
          <a:solidFill>
            <a:srgbClr val="D4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31152" y="2112264"/>
            <a:ext cx="1234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1.0000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21040" y="2075688"/>
            <a:ext cx="1600200" cy="475488"/>
          </a:xfrm>
          <a:prstGeom prst="rect">
            <a:avLst/>
          </a:prstGeom>
          <a:solidFill>
            <a:srgbClr val="D4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94192" y="2112264"/>
            <a:ext cx="1508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0.0059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2578608"/>
            <a:ext cx="3429000" cy="475488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8912" y="2615184"/>
            <a:ext cx="3337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Lasso Regression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31920" y="2578608"/>
            <a:ext cx="1325880" cy="475488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05072" y="2615184"/>
            <a:ext cx="1234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0.0248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94960" y="2578608"/>
            <a:ext cx="1325880" cy="475488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68112" y="2615184"/>
            <a:ext cx="1234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0.0202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0" y="2578608"/>
            <a:ext cx="1325880" cy="475488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31152" y="2615184"/>
            <a:ext cx="1234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0.9507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21040" y="2578608"/>
            <a:ext cx="1600200" cy="475488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94192" y="2615184"/>
            <a:ext cx="1508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0.0066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3081528"/>
            <a:ext cx="34290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8912" y="3118104"/>
            <a:ext cx="3337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Random Forest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931920" y="3081528"/>
            <a:ext cx="13258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005072" y="3118104"/>
            <a:ext cx="1234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0.0334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394960" y="3081528"/>
            <a:ext cx="13258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68112" y="3118104"/>
            <a:ext cx="1234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0.0277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58000" y="3081528"/>
            <a:ext cx="13258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931152" y="3118104"/>
            <a:ext cx="1234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0.9104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321040" y="3081528"/>
            <a:ext cx="16002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94192" y="3118104"/>
            <a:ext cx="1508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0.4666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3584448"/>
            <a:ext cx="3429000" cy="475488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38912" y="3621024"/>
            <a:ext cx="3337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SVR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931920" y="3584448"/>
            <a:ext cx="1325880" cy="475488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005072" y="3621024"/>
            <a:ext cx="1234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0.0494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394960" y="3584448"/>
            <a:ext cx="1325880" cy="475488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468112" y="3621024"/>
            <a:ext cx="1234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0.0371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858000" y="3584448"/>
            <a:ext cx="1325880" cy="475488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931152" y="3621024"/>
            <a:ext cx="1234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0.8047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321040" y="3584448"/>
            <a:ext cx="1600200" cy="475488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394192" y="3621024"/>
            <a:ext cx="1508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0.0077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65760" y="4087368"/>
            <a:ext cx="34290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38912" y="4123944"/>
            <a:ext cx="3337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Decision Tree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931920" y="4087368"/>
            <a:ext cx="13258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005072" y="4123944"/>
            <a:ext cx="1234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0.0624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394960" y="4087368"/>
            <a:ext cx="13258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468112" y="4123944"/>
            <a:ext cx="1234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0.0502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858000" y="4087368"/>
            <a:ext cx="13258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931152" y="4123944"/>
            <a:ext cx="1234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0.6877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321040" y="4087368"/>
            <a:ext cx="16002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394192" y="4123944"/>
            <a:ext cx="1508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0.0095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65760" y="4590288"/>
            <a:ext cx="3429000" cy="475488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38912" y="4626864"/>
            <a:ext cx="3337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Neural Network (Keras)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931920" y="4590288"/>
            <a:ext cx="1325880" cy="475488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005072" y="4626864"/>
            <a:ext cx="1234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0.0675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394960" y="4590288"/>
            <a:ext cx="1325880" cy="475488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468112" y="4626864"/>
            <a:ext cx="1234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0.0527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858000" y="4590288"/>
            <a:ext cx="1325880" cy="475488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931152" y="4626864"/>
            <a:ext cx="1234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0.6349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321040" y="4590288"/>
            <a:ext cx="1600200" cy="475488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394192" y="4626864"/>
            <a:ext cx="1508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0.9341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65760" y="5093208"/>
            <a:ext cx="34290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38912" y="5129784"/>
            <a:ext cx="3337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Random Forest (Tuned)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931920" y="5093208"/>
            <a:ext cx="13258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005072" y="5129784"/>
            <a:ext cx="1234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0.0325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394960" y="5093208"/>
            <a:ext cx="13258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468112" y="5129784"/>
            <a:ext cx="1234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0.0267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858000" y="5093208"/>
            <a:ext cx="13258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931152" y="5129784"/>
            <a:ext cx="1234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0.9155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321040" y="5093208"/>
            <a:ext cx="16002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394192" y="5129784"/>
            <a:ext cx="1508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—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172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76A8A"/>
                </a:solidFill>
                <a:latin typeface="Calibri"/>
              </a:rPr>
              <a:t>⭐ Best Model: Ridge Regression — near-perfect accuracy, fast training, robust L2 regularization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Hyperparameter Tuning — Random Forest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502920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6187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GridSearchCV 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Method: GridSearchCV (5-fold CV)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6712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Model: Random Forest Regressor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51176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Fit on training data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35224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1927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Parameter Grid: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033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  n_estimators = [50, 100, 200]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08736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  max_depth = [None, 5, 10]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471416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  min_samples_split = [2, 5]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855464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23951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Total combinations: 18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0" y="1143000"/>
            <a:ext cx="612648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06440" y="1261872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Best Parameters Found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06440" y="1828800"/>
            <a:ext cx="2743200" cy="502920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97880" y="1892807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6A8A"/>
                </a:solidFill>
                <a:latin typeface="Calibri"/>
              </a:rPr>
              <a:t>n_estimators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41080" y="1828800"/>
            <a:ext cx="2926080" cy="5029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32520" y="1892807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06440" y="2423160"/>
            <a:ext cx="2743200" cy="502920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97880" y="248716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6A8A"/>
                </a:solidFill>
                <a:latin typeface="Calibri"/>
              </a:rPr>
              <a:t>max_depth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41080" y="2423160"/>
            <a:ext cx="2926080" cy="5029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32520" y="248716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06440" y="3017520"/>
            <a:ext cx="2743200" cy="502920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97880" y="308152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6A8A"/>
                </a:solidFill>
                <a:latin typeface="Calibri"/>
              </a:rPr>
              <a:t>min_samples_split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41080" y="3017520"/>
            <a:ext cx="2926080" cy="5029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32520" y="308152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0" y="3886200"/>
            <a:ext cx="6126480" cy="2651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06440" y="4005072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Results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06440" y="4526280"/>
            <a:ext cx="5852160" cy="804672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0" y="459028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Default RF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4956048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6A8A"/>
                </a:solidFill>
                <a:latin typeface="Calibri"/>
              </a:rPr>
              <a:t>RMSE: 0.0334    R²: 0.9104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06440" y="5440680"/>
            <a:ext cx="5852160" cy="804672"/>
          </a:xfrm>
          <a:prstGeom prst="rect">
            <a:avLst/>
          </a:prstGeom>
          <a:solidFill>
            <a:srgbClr val="D4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0" y="550468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Tuned RF 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5870448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6A8A"/>
                </a:solidFill>
                <a:latin typeface="Calibri"/>
              </a:rPr>
              <a:t>RMSE: 0.0325    R²: 0.9155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Feature Importance — Random Forest</a:t>
            </a:r>
          </a:p>
        </p:txBody>
      </p:sp>
      <p:pic>
        <p:nvPicPr>
          <p:cNvPr id="5" name="Picture 4" descr="reg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7772400" cy="5029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412480" y="1143000"/>
            <a:ext cx="347472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49640" y="12618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Key Insight</a:t>
            </a:r>
          </a:p>
        </p:txBody>
      </p:sp>
      <p:sp>
        <p:nvSpPr>
          <p:cNvPr id="8" name="Rectangle 7"/>
          <p:cNvSpPr/>
          <p:nvPr/>
        </p:nvSpPr>
        <p:spPr>
          <a:xfrm>
            <a:off x="8549640" y="1874519"/>
            <a:ext cx="3200400" cy="5669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1080" y="193852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endurance_score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1938528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518"/>
                </a:solidFill>
                <a:latin typeface="Calibri"/>
              </a:rPr>
              <a:t>40.7%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2560320"/>
            <a:ext cx="3200400" cy="56692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1080" y="262432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agility_score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44200" y="2624328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518"/>
                </a:solidFill>
                <a:latin typeface="Calibri"/>
              </a:rPr>
              <a:t>23.0%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49640" y="3246120"/>
            <a:ext cx="3200400" cy="56692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1080" y="331012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fatigue_index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44200" y="3310128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518"/>
                </a:solidFill>
                <a:latin typeface="Calibri"/>
              </a:rPr>
              <a:t>15.0%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40233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Top 3 features
account for ~79%
of predictive power.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49377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6A8A"/>
                </a:solidFill>
                <a:latin typeface="Calibri"/>
              </a:rPr>
              <a:t>Physiological features
(heart rate, body temp,
oxygen) have minimal
impact.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Actual vs. Predicted — Best Model (Ridge Regression)</a:t>
            </a:r>
          </a:p>
        </p:txBody>
      </p:sp>
      <p:pic>
        <p:nvPicPr>
          <p:cNvPr id="5" name="Picture 4" descr="actual_vs_predi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418320" cy="5303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76A8A"/>
                </a:solidFill>
                <a:latin typeface="Calibri"/>
              </a:rPr>
              <a:t>Note: Plot shows Linear Regression predictions which closely match the diagonal (perfect prediction line), confirming near-perfect R²=1.0000 performance.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88952" cy="640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394960" cy="20116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394960" cy="4572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3560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7 Models Trained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6596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3D9F0"/>
                </a:solidFill>
                <a:latin typeface="Calibri"/>
              </a:rPr>
              <a:t>Linear, Lasso, Ridge, SVR,
Decision Tree, Random Forest,
Neural Network (Keras)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59" y="1371600"/>
            <a:ext cx="5394960" cy="20116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59" y="1371600"/>
            <a:ext cx="5394960" cy="4572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43560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Best: Ridge Regression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96596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3D9F0"/>
                </a:solidFill>
                <a:latin typeface="Calibri"/>
              </a:rPr>
              <a:t>RMSE=0.0002, R²=1.0000
Fastest robust model (0.006s)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657600"/>
            <a:ext cx="5394960" cy="20116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657600"/>
            <a:ext cx="5394960" cy="4572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72160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Tuning Improved RF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5196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3D9F0"/>
                </a:solidFill>
                <a:latin typeface="Calibri"/>
              </a:rPr>
              <a:t>GridSearchCV: RMSE
0.0334 → 0.0325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59" y="3657600"/>
            <a:ext cx="5394960" cy="20116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59" y="3657600"/>
            <a:ext cx="5394960" cy="4572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72160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Key Feature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25196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3D9F0"/>
                </a:solidFill>
                <a:latin typeface="Calibri"/>
              </a:rPr>
              <a:t>Endurance score drives
40.7% of all predictions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A8C5"/>
                </a:solidFill>
                <a:latin typeface="Calibri"/>
              </a:rPr>
              <a:t>Majd  |  DS301 Capstone  |  Part 1 — Regression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